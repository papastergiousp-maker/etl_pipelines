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67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GREEK BANKING SECTOR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0604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94A3B8"/>
                </a:solidFill>
                <a:latin typeface="Calibri"/>
              </a:rPr>
              <a:t>2022 – 2024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91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Eurobank  ·  Alpha Bank  ·  Piraeus Bank  ·  NBG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4023360"/>
            <a:ext cx="3200400" cy="36576"/>
          </a:xfrm>
          <a:prstGeom prst="rect">
            <a:avLst/>
          </a:prstGeom>
          <a:solidFill>
            <a:srgbClr val="0067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206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Spyros Papastergiou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6177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spyrossyo96@gmail.com  |  github.com/papastergiousp-maker/greek-banking-sector-analysis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2179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Calibri"/>
              </a:rPr>
              <a:t>Data sourced exclusively from audited annual reports · Not investment advice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85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Key findings from 12 annual reports  |  FY2022–2024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Calibri"/>
              </a:rPr>
              <a:t>Greek Banking Sector Analysis 2022–2024  |  Spyros Papastergiou  |  2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3749039" cy="54864"/>
          </a:xfrm>
          <a:prstGeom prst="rect">
            <a:avLst/>
          </a:prstGeom>
          <a:solidFill>
            <a:srgbClr val="0067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3258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+55% Sector NII Growth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783080"/>
            <a:ext cx="3657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Calibri"/>
              </a:rPr>
              <a:t>Net interest income rose from €5.5bn (2022) to €8.6bn (2024) driven almost entirely by ECB rate hikes. NBG leads with NIM of 3.14% — highest in the peer group.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59" y="1188720"/>
            <a:ext cx="3749039" cy="54864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51959" y="13258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NPE Cleanup 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59" y="1783080"/>
            <a:ext cx="3657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Calibri"/>
              </a:rPr>
              <a:t>All four banks reduced NPE ratios below 4% by 2024 (from 5–8% in 2022). NBG and Piraeus tied at 2.6% — a structural improvement that took a decade and €tens of billions of portfolio disposals.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83879" y="1188720"/>
            <a:ext cx="3749039" cy="54864"/>
          </a:xfrm>
          <a:prstGeom prst="rect">
            <a:avLst/>
          </a:prstGeom>
          <a:solidFill>
            <a:srgbClr val="F7A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79" y="13258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Rate Cycle Now a Headwind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1783080"/>
            <a:ext cx="3657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Calibri"/>
              </a:rPr>
              <a:t>ECB cuts beginning in 2024 will reduce sector NII by ~€170–220m per 25bp. Under EBA-style stress (+200bp CoR, −15% loans, −50bp NIM), Piraeus Bank's CET1 falls to ~9.9% — breaching the 10.5% SREP floor.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749039"/>
            <a:ext cx="9692640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59" y="376732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Bank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376732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ROE 2024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376732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NIM 2024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376732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CET1 2024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59" y="376732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NPE 2024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37673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Net Profit 2024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4114800"/>
            <a:ext cx="9692640" cy="347472"/>
          </a:xfrm>
          <a:prstGeom prst="rect">
            <a:avLst/>
          </a:prstGeom>
          <a:solidFill>
            <a:srgbClr val="0F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59" y="4151376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0067B1"/>
                </a:solidFill>
                <a:latin typeface="Calibri"/>
              </a:rPr>
              <a:t>Eurobank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77440" y="4151376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16.9%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4151376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2.48%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4151376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17.6%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59" y="4151376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2.9%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4151376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€1,458m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4498848"/>
            <a:ext cx="9692640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59" y="4535424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E2231A"/>
                </a:solidFill>
                <a:latin typeface="Calibri"/>
              </a:rPr>
              <a:t>Alpha Bank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77440" y="4535424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8.2%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0480" y="4535424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2.32%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0" y="4535424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15.4%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59" y="4535424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3.8%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60" y="4535424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€668m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4882896"/>
            <a:ext cx="9692640" cy="347472"/>
          </a:xfrm>
          <a:prstGeom prst="rect">
            <a:avLst/>
          </a:prstGeom>
          <a:solidFill>
            <a:srgbClr val="0F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59" y="4919472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7A600"/>
                </a:solidFill>
                <a:latin typeface="Calibri"/>
              </a:rPr>
              <a:t>Piraeus Bank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77440" y="4919472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12.9%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40480" y="4919472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2.61%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03520" y="4919472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13.7%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59" y="4919472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2.6%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38160" y="4919472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€1,066m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5266944"/>
            <a:ext cx="9692640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59" y="530352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003087"/>
                </a:solidFill>
                <a:latin typeface="Calibri"/>
              </a:rPr>
              <a:t>NBG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377440" y="530352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13.7%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840480" y="530352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3.14%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03520" y="530352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19.1%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66559" y="5303520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2.6%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38160" y="530352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€1,158m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Sector Landscape — NII &amp; Profitability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85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Net Interest Income surge driven by ECB rate cycle  |  All values €m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Calibri"/>
              </a:rPr>
              <a:t>Greek Banking Sector Analysis 2022–2024  |  Spyros Papastergiou  |  3 / 12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0"/>
            <a:ext cx="11430000" cy="457058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67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Eurobank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85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FY2024 Snapshot  |  1 of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Calibri"/>
              </a:rPr>
              <a:t>Greek Banking Sector Analysis 2022–2024  |  Spyros Papastergiou  |  4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1737360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143000"/>
            <a:ext cx="1737360" cy="54864"/>
          </a:xfrm>
          <a:prstGeom prst="rect">
            <a:avLst/>
          </a:prstGeom>
          <a:solidFill>
            <a:srgbClr val="0067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59" y="1207008"/>
            <a:ext cx="1645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Calibri"/>
              </a:rPr>
              <a:t>ROE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59" y="1444752"/>
            <a:ext cx="16459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16.9%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59" y="1828800"/>
            <a:ext cx="16459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0A37F"/>
                </a:solidFill>
                <a:latin typeface="Calibri"/>
              </a:rPr>
              <a:t>+1.7pp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48840" y="1143000"/>
            <a:ext cx="1737360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48840" y="1143000"/>
            <a:ext cx="1737360" cy="54864"/>
          </a:xfrm>
          <a:prstGeom prst="rect">
            <a:avLst/>
          </a:prstGeom>
          <a:solidFill>
            <a:srgbClr val="0067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94560" y="1207008"/>
            <a:ext cx="1645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Calibri"/>
              </a:rPr>
              <a:t>NIM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1444752"/>
            <a:ext cx="16459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2.48%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1828800"/>
            <a:ext cx="16459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EF4444"/>
                </a:solidFill>
                <a:latin typeface="Calibri"/>
              </a:rPr>
              <a:t>-0.24pp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77639" y="1143000"/>
            <a:ext cx="1737360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977639" y="1143000"/>
            <a:ext cx="1737360" cy="54864"/>
          </a:xfrm>
          <a:prstGeom prst="rect">
            <a:avLst/>
          </a:prstGeom>
          <a:solidFill>
            <a:srgbClr val="0067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23359" y="1207008"/>
            <a:ext cx="1645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Calibri"/>
              </a:rPr>
              <a:t>CET1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59" y="1444752"/>
            <a:ext cx="16459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17.6%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59" y="1828800"/>
            <a:ext cx="16459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0A37F"/>
                </a:solidFill>
                <a:latin typeface="Calibri"/>
              </a:rPr>
              <a:t>+1.4pp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06440" y="1143000"/>
            <a:ext cx="1737360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806440" y="1143000"/>
            <a:ext cx="1737360" cy="54864"/>
          </a:xfrm>
          <a:prstGeom prst="rect">
            <a:avLst/>
          </a:prstGeom>
          <a:solidFill>
            <a:srgbClr val="0067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52159" y="1207008"/>
            <a:ext cx="1645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Calibri"/>
              </a:rPr>
              <a:t>C/I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59" y="1444752"/>
            <a:ext cx="16459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32.6%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59" y="1828800"/>
            <a:ext cx="16459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EF4444"/>
                </a:solidFill>
                <a:latin typeface="Calibri"/>
              </a:rPr>
              <a:t>+1.5pp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35240" y="1143000"/>
            <a:ext cx="1737360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635240" y="1143000"/>
            <a:ext cx="1737360" cy="54864"/>
          </a:xfrm>
          <a:prstGeom prst="rect">
            <a:avLst/>
          </a:prstGeom>
          <a:solidFill>
            <a:srgbClr val="0067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0" y="1207008"/>
            <a:ext cx="1645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Calibri"/>
              </a:rPr>
              <a:t>NPE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0" y="1444752"/>
            <a:ext cx="16459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2.9%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0" y="1828800"/>
            <a:ext cx="16459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0A37F"/>
                </a:solidFill>
                <a:latin typeface="Calibri"/>
              </a:rPr>
              <a:t>-0.6pp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464040" y="1143000"/>
            <a:ext cx="1737360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464040" y="1143000"/>
            <a:ext cx="1737360" cy="54864"/>
          </a:xfrm>
          <a:prstGeom prst="rect">
            <a:avLst/>
          </a:prstGeom>
          <a:solidFill>
            <a:srgbClr val="0067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09760" y="1207008"/>
            <a:ext cx="1645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Calibri"/>
              </a:rPr>
              <a:t>Net
Profit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09760" y="1444752"/>
            <a:ext cx="16459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€1,458m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09760" y="1828800"/>
            <a:ext cx="16459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0A37F"/>
                </a:solidFill>
                <a:latin typeface="Calibri"/>
              </a:rPr>
              <a:t>+27%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2240280"/>
            <a:ext cx="5943600" cy="36576"/>
          </a:xfrm>
          <a:prstGeom prst="rect">
            <a:avLst/>
          </a:prstGeom>
          <a:solidFill>
            <a:srgbClr val="0067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233172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Investment Highlights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0040" y="2743200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Calibri"/>
              </a:rPr>
              <a:t>▸  ROE of 16.9% — highest in peer group; only bank trading below justified P/B (~1.5x vs market ~1.3x)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" y="3429000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Calibri"/>
              </a:rPr>
              <a:t>▸  Hellenic Bank consolidation adds Cypriot diversification; 71% of loans outside Greece by 2024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0040" y="4114800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Calibri"/>
              </a:rPr>
              <a:t>▸  Best earnings quality: lowest C/I in sector (32.6%); 710bp CET1 headroom above SREP floor</a:t>
            </a: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194560"/>
            <a:ext cx="5303520" cy="365390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E22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Alpha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85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FY2024 Snapshot  |  2 of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Calibri"/>
              </a:rPr>
              <a:t>Greek Banking Sector Analysis 2022–2024  |  Spyros Papastergiou  |  5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1737360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143000"/>
            <a:ext cx="1737360" cy="54864"/>
          </a:xfrm>
          <a:prstGeom prst="rect">
            <a:avLst/>
          </a:prstGeom>
          <a:solidFill>
            <a:srgbClr val="E22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59" y="1207008"/>
            <a:ext cx="1645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Calibri"/>
              </a:rPr>
              <a:t>ROE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59" y="1444752"/>
            <a:ext cx="16459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8.2%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59" y="1828800"/>
            <a:ext cx="16459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EF4444"/>
                </a:solidFill>
                <a:latin typeface="Calibri"/>
              </a:rPr>
              <a:t>-0.8pp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48840" y="1143000"/>
            <a:ext cx="1737360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48840" y="1143000"/>
            <a:ext cx="1737360" cy="54864"/>
          </a:xfrm>
          <a:prstGeom prst="rect">
            <a:avLst/>
          </a:prstGeom>
          <a:solidFill>
            <a:srgbClr val="E22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94560" y="1207008"/>
            <a:ext cx="1645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Calibri"/>
              </a:rPr>
              <a:t>NIM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1444752"/>
            <a:ext cx="16459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2.32%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1828800"/>
            <a:ext cx="16459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0A37F"/>
                </a:solidFill>
                <a:latin typeface="Calibri"/>
              </a:rPr>
              <a:t>+0.05pp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77639" y="1143000"/>
            <a:ext cx="1737360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977639" y="1143000"/>
            <a:ext cx="1737360" cy="54864"/>
          </a:xfrm>
          <a:prstGeom prst="rect">
            <a:avLst/>
          </a:prstGeom>
          <a:solidFill>
            <a:srgbClr val="E22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23359" y="1207008"/>
            <a:ext cx="1645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Calibri"/>
              </a:rPr>
              <a:t>CET1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59" y="1444752"/>
            <a:ext cx="16459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15.4%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59" y="1828800"/>
            <a:ext cx="16459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0A37F"/>
                </a:solidFill>
                <a:latin typeface="Calibri"/>
              </a:rPr>
              <a:t>+1.5pp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06440" y="1143000"/>
            <a:ext cx="1737360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806440" y="1143000"/>
            <a:ext cx="1737360" cy="54864"/>
          </a:xfrm>
          <a:prstGeom prst="rect">
            <a:avLst/>
          </a:prstGeom>
          <a:solidFill>
            <a:srgbClr val="E22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52159" y="1207008"/>
            <a:ext cx="1645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Calibri"/>
              </a:rPr>
              <a:t>C/I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59" y="1444752"/>
            <a:ext cx="16459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37.7%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59" y="1828800"/>
            <a:ext cx="16459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EF4444"/>
                </a:solidFill>
                <a:latin typeface="Calibri"/>
              </a:rPr>
              <a:t>+0.5pp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35240" y="1143000"/>
            <a:ext cx="1737360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635240" y="1143000"/>
            <a:ext cx="1737360" cy="54864"/>
          </a:xfrm>
          <a:prstGeom prst="rect">
            <a:avLst/>
          </a:prstGeom>
          <a:solidFill>
            <a:srgbClr val="E22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0" y="1207008"/>
            <a:ext cx="1645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Calibri"/>
              </a:rPr>
              <a:t>NPE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0" y="1444752"/>
            <a:ext cx="16459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3.8%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0" y="1828800"/>
            <a:ext cx="16459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0A37F"/>
                </a:solidFill>
                <a:latin typeface="Calibri"/>
              </a:rPr>
              <a:t>-2.2pp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464040" y="1143000"/>
            <a:ext cx="1737360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464040" y="1143000"/>
            <a:ext cx="1737360" cy="54864"/>
          </a:xfrm>
          <a:prstGeom prst="rect">
            <a:avLst/>
          </a:prstGeom>
          <a:solidFill>
            <a:srgbClr val="E22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09760" y="1207008"/>
            <a:ext cx="1645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Calibri"/>
              </a:rPr>
              <a:t>Net
Profit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09760" y="1444752"/>
            <a:ext cx="16459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€668m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09760" y="1828800"/>
            <a:ext cx="16459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0A37F"/>
                </a:solidFill>
                <a:latin typeface="Calibri"/>
              </a:rPr>
              <a:t>+2%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2240280"/>
            <a:ext cx="5943600" cy="36576"/>
          </a:xfrm>
          <a:prstGeom prst="rect">
            <a:avLst/>
          </a:prstGeom>
          <a:solidFill>
            <a:srgbClr val="E22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233172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Investment Highlights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0040" y="2743200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Calibri"/>
              </a:rPr>
              <a:t>▸  ROE of 8.2% below CoE of ~11% — justified P/B ~0.7x; re-rate requires ROE expansion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" y="3429000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Calibri"/>
              </a:rPr>
              <a:t>▸  NPE cleanup accelerated: ratio fell from 7.8% (2022) to 3.8% (2024) via GAIA II and Project ACAC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0040" y="4114800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Calibri"/>
              </a:rPr>
              <a:t>▸  NII flat in 2024 (−0.3% YoY) as rate tailwind fades; operational leverage improving (C/I 37.7%)</a:t>
            </a: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194560"/>
            <a:ext cx="5303520" cy="365390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7A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Piraeus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85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FY2024 Snapshot  |  3 of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Calibri"/>
              </a:rPr>
              <a:t>Greek Banking Sector Analysis 2022–2024  |  Spyros Papastergiou  |  6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1737360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143000"/>
            <a:ext cx="1737360" cy="54864"/>
          </a:xfrm>
          <a:prstGeom prst="rect">
            <a:avLst/>
          </a:prstGeom>
          <a:solidFill>
            <a:srgbClr val="F7A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59" y="1207008"/>
            <a:ext cx="1645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Calibri"/>
              </a:rPr>
              <a:t>ROE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59" y="1444752"/>
            <a:ext cx="16459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12.9%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59" y="1828800"/>
            <a:ext cx="16459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0A37F"/>
                </a:solidFill>
                <a:latin typeface="Calibri"/>
              </a:rPr>
              <a:t>+2.2pp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48840" y="1143000"/>
            <a:ext cx="1737360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48840" y="1143000"/>
            <a:ext cx="1737360" cy="54864"/>
          </a:xfrm>
          <a:prstGeom prst="rect">
            <a:avLst/>
          </a:prstGeom>
          <a:solidFill>
            <a:srgbClr val="F7A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94560" y="1207008"/>
            <a:ext cx="1645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Calibri"/>
              </a:rPr>
              <a:t>NIM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1444752"/>
            <a:ext cx="16459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2.61%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1828800"/>
            <a:ext cx="16459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EF4444"/>
                </a:solidFill>
                <a:latin typeface="Calibri"/>
              </a:rPr>
              <a:t>-0.01pp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77639" y="1143000"/>
            <a:ext cx="1737360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977639" y="1143000"/>
            <a:ext cx="1737360" cy="54864"/>
          </a:xfrm>
          <a:prstGeom prst="rect">
            <a:avLst/>
          </a:prstGeom>
          <a:solidFill>
            <a:srgbClr val="F7A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23359" y="1207008"/>
            <a:ext cx="1645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Calibri"/>
              </a:rPr>
              <a:t>CET1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59" y="1444752"/>
            <a:ext cx="16459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13.7%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59" y="1828800"/>
            <a:ext cx="16459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0A37F"/>
                </a:solidFill>
                <a:latin typeface="Calibri"/>
              </a:rPr>
              <a:t>+0.9pp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06440" y="1143000"/>
            <a:ext cx="1737360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806440" y="1143000"/>
            <a:ext cx="1737360" cy="54864"/>
          </a:xfrm>
          <a:prstGeom prst="rect">
            <a:avLst/>
          </a:prstGeom>
          <a:solidFill>
            <a:srgbClr val="F7A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52159" y="1207008"/>
            <a:ext cx="1645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Calibri"/>
              </a:rPr>
              <a:t>C/I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59" y="1444752"/>
            <a:ext cx="16459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31.8%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59" y="1828800"/>
            <a:ext cx="16459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0A37F"/>
                </a:solidFill>
                <a:latin typeface="Calibri"/>
              </a:rPr>
              <a:t>-1.3pp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35240" y="1143000"/>
            <a:ext cx="1737360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635240" y="1143000"/>
            <a:ext cx="1737360" cy="54864"/>
          </a:xfrm>
          <a:prstGeom prst="rect">
            <a:avLst/>
          </a:prstGeom>
          <a:solidFill>
            <a:srgbClr val="F7A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0" y="1207008"/>
            <a:ext cx="1645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Calibri"/>
              </a:rPr>
              <a:t>NPE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0" y="1444752"/>
            <a:ext cx="16459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2.6%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0" y="1828800"/>
            <a:ext cx="16459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0A37F"/>
                </a:solidFill>
                <a:latin typeface="Calibri"/>
              </a:rPr>
              <a:t>-0.9pp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464040" y="1143000"/>
            <a:ext cx="1737360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464040" y="1143000"/>
            <a:ext cx="1737360" cy="54864"/>
          </a:xfrm>
          <a:prstGeom prst="rect">
            <a:avLst/>
          </a:prstGeom>
          <a:solidFill>
            <a:srgbClr val="F7A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09760" y="1207008"/>
            <a:ext cx="1645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Calibri"/>
              </a:rPr>
              <a:t>Net
Profit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09760" y="1444752"/>
            <a:ext cx="16459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€1,066m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09760" y="1828800"/>
            <a:ext cx="16459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0A37F"/>
                </a:solidFill>
                <a:latin typeface="Calibri"/>
              </a:rPr>
              <a:t>+35%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2240280"/>
            <a:ext cx="5943600" cy="36576"/>
          </a:xfrm>
          <a:prstGeom prst="rect">
            <a:avLst/>
          </a:prstGeom>
          <a:solidFill>
            <a:srgbClr val="F7A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233172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Investment Highlights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0040" y="2743200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Calibri"/>
              </a:rPr>
              <a:t>▸  2024 profit surge (+35% YoY) partly driven by ~€165m after-tax impairment benefit; underlying growth ~+14%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" y="3429000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Calibri"/>
              </a:rPr>
              <a:t>▸  Best-in-class efficiency: C/I of 31.8% — lowest in sector; strong operational improvement trajectory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0040" y="4114800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Calibri"/>
              </a:rPr>
              <a:t>▸  Tightest capital buffer: CET1 13.7%, only 320bp above SREP floor; breaches in EBA adverse stress</a:t>
            </a: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194560"/>
            <a:ext cx="5303520" cy="365390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NBG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85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FY2024 Snapshot  |  4 of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Calibri"/>
              </a:rPr>
              <a:t>Greek Banking Sector Analysis 2022–2024  |  Spyros Papastergiou  |  7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1737360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143000"/>
            <a:ext cx="1737360" cy="54864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59" y="1207008"/>
            <a:ext cx="1645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Calibri"/>
              </a:rPr>
              <a:t>ROE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59" y="1444752"/>
            <a:ext cx="16459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13.7%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59" y="1828800"/>
            <a:ext cx="16459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EF4444"/>
                </a:solidFill>
                <a:latin typeface="Calibri"/>
              </a:rPr>
              <a:t>-0.8pp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48840" y="1143000"/>
            <a:ext cx="1737360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48840" y="1143000"/>
            <a:ext cx="1737360" cy="54864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94560" y="1207008"/>
            <a:ext cx="1645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Calibri"/>
              </a:rPr>
              <a:t>NIM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1444752"/>
            <a:ext cx="16459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3.14%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1828800"/>
            <a:ext cx="16459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0A37F"/>
                </a:solidFill>
                <a:latin typeface="Calibri"/>
              </a:rPr>
              <a:t>+0.11pp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77639" y="1143000"/>
            <a:ext cx="1737360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977639" y="1143000"/>
            <a:ext cx="1737360" cy="54864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23359" y="1207008"/>
            <a:ext cx="1645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Calibri"/>
              </a:rPr>
              <a:t>CET1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59" y="1444752"/>
            <a:ext cx="16459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19.1%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59" y="1828800"/>
            <a:ext cx="16459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0A37F"/>
                </a:solidFill>
                <a:latin typeface="Calibri"/>
              </a:rPr>
              <a:t>+1.3pp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06440" y="1143000"/>
            <a:ext cx="1737360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806440" y="1143000"/>
            <a:ext cx="1737360" cy="54864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52159" y="1207008"/>
            <a:ext cx="1645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Calibri"/>
              </a:rPr>
              <a:t>C/I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59" y="1444752"/>
            <a:ext cx="16459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36.5%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59" y="1828800"/>
            <a:ext cx="16459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EF4444"/>
                </a:solidFill>
                <a:latin typeface="Calibri"/>
              </a:rPr>
              <a:t>+2.9pp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35240" y="1143000"/>
            <a:ext cx="1737360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635240" y="1143000"/>
            <a:ext cx="1737360" cy="54864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0" y="1207008"/>
            <a:ext cx="1645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Calibri"/>
              </a:rPr>
              <a:t>NPE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0" y="1444752"/>
            <a:ext cx="16459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2.6%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0" y="1828800"/>
            <a:ext cx="16459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0A37F"/>
                </a:solidFill>
                <a:latin typeface="Calibri"/>
              </a:rPr>
              <a:t>-1.1pp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464040" y="1143000"/>
            <a:ext cx="1737360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464040" y="1143000"/>
            <a:ext cx="1737360" cy="54864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09760" y="1207008"/>
            <a:ext cx="1645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Calibri"/>
              </a:rPr>
              <a:t>Net
Profit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09760" y="1444752"/>
            <a:ext cx="16459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€1,158m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09760" y="1828800"/>
            <a:ext cx="16459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0A37F"/>
                </a:solidFill>
                <a:latin typeface="Calibri"/>
              </a:rPr>
              <a:t>+5%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2240280"/>
            <a:ext cx="5943600" cy="36576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233172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Investment Highlights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0040" y="2743200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Calibri"/>
              </a:rPr>
              <a:t>▸  Highest NIM (3.14%) and CET1 (19.1%) in sector; 860bp headroom above SREP floor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" y="3429000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Calibri"/>
              </a:rPr>
              <a:t>▸  NPE ratio of 2.6% — tied for sector-best; ROE of 13.7% sustained above CoE despite rate headwinds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0040" y="4114800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Calibri"/>
              </a:rPr>
              <a:t>▸  Structural rate sensitivity: higher fixed-spread SME/retail mix provides partial ECB rate hedge</a:t>
            </a: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194560"/>
            <a:ext cx="5303520" cy="365390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Peer Rankings — FY2024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85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Green = best in class per metric  |  Direction-adjusted (lower C/I, NPE = better)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Calibri"/>
              </a:rPr>
              <a:t>Greek Banking Sector Analysis 2022–2024  |  Spyros Papastergiou  |  8 / 12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612880" cy="460200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NII Forecast 2025–2026 — ECB Rate Scenarios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85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Rate sensitivity: ~€195m sector NII per 25bp ECB cut  |  Volume: +2% p.a. assumed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Calibri"/>
              </a:rPr>
              <a:t>Greek Banking Sector Analysis 2022–2024  |  Spyros Papastergiou  |  9 / 12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612880" cy="425871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EBA-Style Stress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85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Adverse scenario: +200bp CoR · −15% loans · −50bp NIM  |  Piraeus breaches 10.5% SREP floor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Calibri"/>
              </a:rPr>
              <a:t>Greek Banking Sector Analysis 2022–2024  |  Spyros Papastergiou  |  10 / 12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43000"/>
            <a:ext cx="11612880" cy="426395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Valuation Framework — P/B vs Justified P/B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85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Gordon Growth model: Justified P/B = ROE / CoE  |  CoE 11% (Rf 3.5% + ERP 5.5% + CRP 2%)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Calibri"/>
              </a:rPr>
              <a:t>Greek Banking Sector Analysis 2022–2024  |  Spyros Papastergiou  |  11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11430000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11556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Bank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111556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Market P/B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1115568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ROE 2024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115568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CoE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49240" y="1115568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Justified P/B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115568"/>
            <a:ext cx="1463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vs Market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1115568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Investment Signal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508760"/>
            <a:ext cx="11430000" cy="731520"/>
          </a:xfrm>
          <a:prstGeom prst="rect">
            <a:avLst/>
          </a:prstGeom>
          <a:solidFill>
            <a:srgbClr val="0F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1508760"/>
            <a:ext cx="54864" cy="731520"/>
          </a:xfrm>
          <a:prstGeom prst="rect">
            <a:avLst/>
          </a:prstGeom>
          <a:solidFill>
            <a:srgbClr val="0067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3192" y="1673351"/>
            <a:ext cx="1216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67B1"/>
                </a:solidFill>
                <a:latin typeface="Calibri"/>
              </a:rPr>
              <a:t>Eurobank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64792" y="1673351"/>
            <a:ext cx="1216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~1.3x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36392" y="1673351"/>
            <a:ext cx="10789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16.9%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0832" y="1673351"/>
            <a:ext cx="896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11.0%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22392" y="1673351"/>
            <a:ext cx="10789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~1.5x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56832" y="1673351"/>
            <a:ext cx="139903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~15% discount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11312" y="1673351"/>
            <a:ext cx="3090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Quality premium warranted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286000"/>
            <a:ext cx="11430000" cy="731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2286000"/>
            <a:ext cx="54864" cy="7315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3192" y="2450592"/>
            <a:ext cx="1216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3087"/>
                </a:solidFill>
                <a:latin typeface="Calibri"/>
              </a:rPr>
              <a:t>NBG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2450592"/>
            <a:ext cx="1216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~1.3x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36392" y="2450592"/>
            <a:ext cx="10789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13.7%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70832" y="2450592"/>
            <a:ext cx="896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11.0%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22392" y="2450592"/>
            <a:ext cx="10789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~1.2x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56832" y="2450592"/>
            <a:ext cx="139903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≈ fair value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11312" y="2450592"/>
            <a:ext cx="3090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Total return via buybacks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3063239"/>
            <a:ext cx="11430000" cy="731520"/>
          </a:xfrm>
          <a:prstGeom prst="rect">
            <a:avLst/>
          </a:prstGeom>
          <a:solidFill>
            <a:srgbClr val="0F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74320" y="3063239"/>
            <a:ext cx="54864" cy="731520"/>
          </a:xfrm>
          <a:prstGeom prst="rect">
            <a:avLst/>
          </a:prstGeom>
          <a:solidFill>
            <a:srgbClr val="F7A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93192" y="3227832"/>
            <a:ext cx="1216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7A600"/>
                </a:solidFill>
                <a:latin typeface="Calibri"/>
              </a:rPr>
              <a:t>Piraeus Bank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64792" y="3227832"/>
            <a:ext cx="1216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~0.9x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36392" y="3227832"/>
            <a:ext cx="10789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12.9%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70832" y="3227832"/>
            <a:ext cx="896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11.0%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22392" y="3227832"/>
            <a:ext cx="10789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~1.2x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56832" y="3227832"/>
            <a:ext cx="139903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~25% discount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11312" y="3227832"/>
            <a:ext cx="3090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CoR risk closes gap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3840479"/>
            <a:ext cx="11430000" cy="731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74320" y="3840479"/>
            <a:ext cx="54864" cy="731520"/>
          </a:xfrm>
          <a:prstGeom prst="rect">
            <a:avLst/>
          </a:prstGeom>
          <a:solidFill>
            <a:srgbClr val="E22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93192" y="4005071"/>
            <a:ext cx="1216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2231A"/>
                </a:solidFill>
                <a:latin typeface="Calibri"/>
              </a:rPr>
              <a:t>Alpha Bank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764792" y="4005071"/>
            <a:ext cx="1216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~0.8x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136392" y="4005071"/>
            <a:ext cx="10789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8.2%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70832" y="4005071"/>
            <a:ext cx="896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11.0%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22392" y="4005071"/>
            <a:ext cx="10789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~0.7x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56832" y="4005071"/>
            <a:ext cx="139903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Slight premium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11312" y="4005071"/>
            <a:ext cx="3090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Re-rate needs ROE &gt; CoE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4320" y="47091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Methodology: CoE = Risk-free rate (3.5%) + Beta (1.0) × Equity Risk Premium (5.5%) + Country Risk Premium (2.0%) = 11.0%  |  Market P/B approximate end-2024 prices. Justified P/B = ROE / CoE (Gordon Growth, g=0).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Methodology &amp; Data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85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All figures sourced from 12 audited annual report PDFs  |  No paid data vendors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Calibri"/>
              </a:rPr>
              <a:t>Greek Banking Sector Analysis 2022–2024  |  Spyros Papastergiou  |  12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2743200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20700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Data Extraction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160020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• 12 annual report PDFs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201168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• pdfplumber (Python) extraction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242316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• Manual cross-validation per figure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83464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• Source page cited for every KPI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6120" y="1188720"/>
            <a:ext cx="2743200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37560" y="120700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Data Quality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160020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• 26 pytest assertions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201168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• KPIs re-computed from CSVs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242316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• BS identity check (Assets = L + 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283464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• NPE ratios: 12/12 PDF-verified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1188720"/>
            <a:ext cx="2743200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120700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Financial Models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160020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• 5-step banking DuPont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201168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• CAMELS scoring (1–5 scale)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242316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• Z-score peer benchmarking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83464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• EBA-style single-period stress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98280" y="1188720"/>
            <a:ext cx="2743200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89720" y="120700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Deliverables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20" y="160020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• SQLite DB + 3 processed CSVs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9720" y="201168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• Plotly/sql.js browser dashboard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20" y="242316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• Streamlit multi-page app (live)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9720" y="283464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• Excel model + this deck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4572000"/>
            <a:ext cx="11430000" cy="36576"/>
          </a:xfrm>
          <a:prstGeom prst="rect">
            <a:avLst/>
          </a:prstGeom>
          <a:solidFill>
            <a:srgbClr val="0067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46634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Calibri"/>
              </a:rPr>
              <a:t>Known limitations: Annual data only (no quarterly)  ·  NIM uses year-end assets (proxy)  ·  Market P/B values are end-2024 estimates  ·  RWA proxy = loans × 50%  ·  Not investment advice.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" y="51663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67B1"/>
                </a:solidFill>
                <a:latin typeface="Calibri"/>
              </a:rPr>
              <a:t>GitHub:  github.com/papastergiousp-maker/greek-banking-sector-analysis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" y="55321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67B1"/>
                </a:solidFill>
                <a:latin typeface="Calibri"/>
              </a:rPr>
              <a:t>Live app:  greek-banking-sector-analysis.streamlit.app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